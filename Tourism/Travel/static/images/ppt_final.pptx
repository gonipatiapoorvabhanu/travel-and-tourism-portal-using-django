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handoutMasterIdLst>
    <p:handoutMasterId r:id="rId13"/>
  </p:handoutMasterIdLst>
  <p:sldIdLst>
    <p:sldId id="256" r:id="rId2"/>
    <p:sldId id="525" r:id="rId3"/>
    <p:sldId id="526" r:id="rId4"/>
    <p:sldId id="534" r:id="rId5"/>
    <p:sldId id="536" r:id="rId6"/>
    <p:sldId id="538" r:id="rId7"/>
    <p:sldId id="539" r:id="rId8"/>
    <p:sldId id="535" r:id="rId9"/>
    <p:sldId id="529" r:id="rId10"/>
    <p:sldId id="53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8B32EA1-D88C-4F5A-A75C-6085DFD5145E}">
          <p14:sldIdLst>
            <p14:sldId id="256"/>
            <p14:sldId id="525"/>
            <p14:sldId id="526"/>
            <p14:sldId id="534"/>
            <p14:sldId id="536"/>
            <p14:sldId id="538"/>
            <p14:sldId id="539"/>
            <p14:sldId id="535"/>
            <p14:sldId id="529"/>
            <p14:sldId id="5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24" autoAdjust="0"/>
  </p:normalViewPr>
  <p:slideViewPr>
    <p:cSldViewPr>
      <p:cViewPr varScale="1">
        <p:scale>
          <a:sx n="82" d="100"/>
          <a:sy n="82" d="100"/>
        </p:scale>
        <p:origin x="720"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9/17/2025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9/17/2025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5658687-0CEA-4055-A28D-6A7B0ACD688F}" type="datetime1">
              <a:rPr lang="en-IN" smtClean="0"/>
              <a:pPr/>
              <a:t>17-09-2025</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a:t>DL&amp;CO                                                                G.LAVARAJU, Associate Professor, CSE</a:t>
            </a:r>
            <a:endParaRPr lang="en-US" dirty="0"/>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57A8F95D-D342-423C-90A4-62AE2284CCBC}" type="datetime1">
              <a:rPr lang="en-IN" smtClean="0"/>
              <a:pPr/>
              <a:t>17-09-2025</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a:t>DL&amp;CO                                                                G.LAVARAJU, Associate Professor, CSE</a:t>
            </a:r>
            <a:endParaRPr lang="en-US" dirty="0"/>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BFC2A9-ECCF-44DF-970F-75D2FCB69DF9}" type="datetime1">
              <a:rPr lang="en-IN" smtClean="0"/>
              <a:pPr/>
              <a:t>17-09-2025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DL&amp;CO                                                                G.LAVARAJU, Associate Professor,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1055440" y="1700808"/>
            <a:ext cx="10696612" cy="1944216"/>
          </a:xfrm>
          <a:prstGeom prst="rect">
            <a:avLst/>
          </a:prstGeom>
        </p:spPr>
        <p:txBody>
          <a:bodyPr vert="horz" lIns="91440" tIns="45720" rIns="91440" bIns="45720" rtlCol="0" anchor="b">
            <a:noAutofit/>
          </a:bodyPr>
          <a:lstStyle/>
          <a:p>
            <a:pPr lvl="0" algn="ctr" defTabSz="914400">
              <a:lnSpc>
                <a:spcPct val="90000"/>
              </a:lnSpc>
              <a:spcBef>
                <a:spcPct val="0"/>
              </a:spcBef>
              <a:defRPr/>
            </a:pPr>
            <a:endParaRPr lang="en-US" sz="4000" dirty="0">
              <a:solidFill>
                <a:srgbClr val="00B050"/>
              </a:solidFill>
              <a:latin typeface="Arial Rounded MT Bold" panose="020F0704030504030204" pitchFamily="34" charset="0"/>
              <a:ea typeface="Source Sans Pro" panose="020B0503030403020204" pitchFamily="34" charset="0"/>
              <a:cs typeface="+mj-cs"/>
            </a:endParaRPr>
          </a:p>
        </p:txBody>
      </p:sp>
      <p:sp>
        <p:nvSpPr>
          <p:cNvPr id="3" name="Title 1">
            <a:extLst>
              <a:ext uri="{FF2B5EF4-FFF2-40B4-BE49-F238E27FC236}">
                <a16:creationId xmlns:a16="http://schemas.microsoft.com/office/drawing/2014/main" id="{AC1FE6A4-FF5D-D94C-A68D-4F58E521FA13}"/>
              </a:ext>
            </a:extLst>
          </p:cNvPr>
          <p:cNvSpPr txBox="1">
            <a:spLocks/>
          </p:cNvSpPr>
          <p:nvPr/>
        </p:nvSpPr>
        <p:spPr>
          <a:xfrm>
            <a:off x="934808" y="1340260"/>
            <a:ext cx="10696612" cy="936104"/>
          </a:xfrm>
          <a:prstGeom prst="rect">
            <a:avLst/>
          </a:prstGeom>
        </p:spPr>
        <p:txBody>
          <a:bodyPr vert="horz" lIns="91440" tIns="45720" rIns="91440" bIns="45720" rtlCol="0" anchor="b">
            <a:noAutofit/>
          </a:bodyPr>
          <a:lstStyle/>
          <a:p>
            <a:pPr lvl="0" algn="ctr" defTabSz="914400">
              <a:lnSpc>
                <a:spcPct val="90000"/>
              </a:lnSpc>
              <a:spcBef>
                <a:spcPct val="0"/>
              </a:spcBef>
              <a:defRPr/>
            </a:pPr>
            <a:r>
              <a:rPr lang="en-US" sz="4000" dirty="0">
                <a:solidFill>
                  <a:srgbClr val="0000FF"/>
                </a:solidFill>
                <a:latin typeface="Abadi" panose="020B0604020104020204" pitchFamily="34" charset="0"/>
                <a:ea typeface="+mj-ea"/>
                <a:cs typeface="+mj-cs"/>
              </a:rPr>
              <a:t>Summer Internship</a:t>
            </a:r>
          </a:p>
        </p:txBody>
      </p:sp>
      <p:sp>
        <p:nvSpPr>
          <p:cNvPr id="6" name="Rectangle 5"/>
          <p:cNvSpPr/>
          <p:nvPr/>
        </p:nvSpPr>
        <p:spPr>
          <a:xfrm>
            <a:off x="551384" y="3717032"/>
            <a:ext cx="4752528" cy="1295868"/>
          </a:xfrm>
          <a:prstGeom prst="rect">
            <a:avLst/>
          </a:prstGeom>
        </p:spPr>
        <p:txBody>
          <a:bodyPr wrap="square">
            <a:spAutoFit/>
          </a:bodyPr>
          <a:lstStyle/>
          <a:p>
            <a:pPr>
              <a:lnSpc>
                <a:spcPct val="150000"/>
              </a:lnSpc>
            </a:pPr>
            <a:endParaRPr lang="en-US" b="1" dirty="0"/>
          </a:p>
          <a:p>
            <a:pPr>
              <a:lnSpc>
                <a:spcPct val="150000"/>
              </a:lnSpc>
            </a:pPr>
            <a:r>
              <a:rPr lang="en-US" b="1" dirty="0"/>
              <a:t>Presented by:</a:t>
            </a:r>
            <a:r>
              <a:rPr lang="en-US" dirty="0"/>
              <a:t>  </a:t>
            </a:r>
          </a:p>
          <a:p>
            <a:pPr marL="285750" indent="-285750">
              <a:lnSpc>
                <a:spcPct val="150000"/>
              </a:lnSpc>
              <a:buFont typeface="Arial" panose="020B0604020202020204" pitchFamily="34" charset="0"/>
              <a:buChar char="•"/>
            </a:pPr>
            <a:r>
              <a:rPr lang="en-US" dirty="0"/>
              <a:t>22A91A6102 – </a:t>
            </a:r>
            <a:r>
              <a:rPr lang="en-US"/>
              <a:t>A.Bharathi </a:t>
            </a:r>
            <a:endParaRPr lang="en-IN" dirty="0"/>
          </a:p>
        </p:txBody>
      </p:sp>
      <p:sp>
        <p:nvSpPr>
          <p:cNvPr id="7" name="Title 1">
            <a:extLst>
              <a:ext uri="{FF2B5EF4-FFF2-40B4-BE49-F238E27FC236}">
                <a16:creationId xmlns:a16="http://schemas.microsoft.com/office/drawing/2014/main" id="{AC1FE6A4-FF5D-D94C-A68D-4F58E521FA13}"/>
              </a:ext>
            </a:extLst>
          </p:cNvPr>
          <p:cNvSpPr txBox="1">
            <a:spLocks/>
          </p:cNvSpPr>
          <p:nvPr/>
        </p:nvSpPr>
        <p:spPr>
          <a:xfrm>
            <a:off x="934808" y="2168860"/>
            <a:ext cx="10696612" cy="936104"/>
          </a:xfrm>
          <a:prstGeom prst="rect">
            <a:avLst/>
          </a:prstGeom>
        </p:spPr>
        <p:txBody>
          <a:bodyPr vert="horz" lIns="91440" tIns="45720" rIns="91440" bIns="45720" rtlCol="0" anchor="b">
            <a:noAutofit/>
          </a:bodyPr>
          <a:lstStyle/>
          <a:p>
            <a:pPr lvl="0" algn="ctr" defTabSz="914400">
              <a:lnSpc>
                <a:spcPct val="90000"/>
              </a:lnSpc>
              <a:spcBef>
                <a:spcPct val="0"/>
              </a:spcBef>
              <a:defRPr/>
            </a:pPr>
            <a:r>
              <a:rPr lang="en-US" sz="4000" dirty="0">
                <a:solidFill>
                  <a:srgbClr val="FF0000"/>
                </a:solidFill>
                <a:latin typeface="Abadi" panose="020B0604020104020204" pitchFamily="34" charset="0"/>
                <a:ea typeface="+mj-ea"/>
                <a:cs typeface="+mj-cs"/>
              </a:rPr>
              <a:t>Travel and Tourism</a:t>
            </a:r>
          </a:p>
        </p:txBody>
      </p:sp>
      <p:sp>
        <p:nvSpPr>
          <p:cNvPr id="8" name="Rectangle 7"/>
          <p:cNvSpPr/>
          <p:nvPr/>
        </p:nvSpPr>
        <p:spPr>
          <a:xfrm>
            <a:off x="7176120" y="4106034"/>
            <a:ext cx="4752528" cy="880369"/>
          </a:xfrm>
          <a:prstGeom prst="rect">
            <a:avLst/>
          </a:prstGeom>
        </p:spPr>
        <p:txBody>
          <a:bodyPr wrap="square">
            <a:spAutoFit/>
          </a:bodyPr>
          <a:lstStyle/>
          <a:p>
            <a:pPr>
              <a:lnSpc>
                <a:spcPct val="150000"/>
              </a:lnSpc>
            </a:pPr>
            <a:r>
              <a:rPr lang="en-US" b="1" dirty="0"/>
              <a:t>Faculty  Guide:</a:t>
            </a:r>
          </a:p>
          <a:p>
            <a:pPr marL="285750" indent="-285750">
              <a:lnSpc>
                <a:spcPct val="150000"/>
              </a:lnSpc>
            </a:pP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US" u="sng" dirty="0"/>
              <a:t>PROBLEM STATEMENT:</a:t>
            </a:r>
          </a:p>
          <a:p>
            <a:pPr>
              <a:buNone/>
            </a:pPr>
            <a:endParaRPr lang="en-US" u="sng" dirty="0"/>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Explore tourist destinations with detailed descriptions, images and booking buses.</a:t>
            </a:r>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Compare seats and book travel packages conveniently.</a:t>
            </a:r>
          </a:p>
          <a:p>
            <a:pPr eaLnBrk="0" fontAlgn="base" hangingPunct="0">
              <a:lnSpc>
                <a:spcPct val="150000"/>
              </a:lnSpc>
              <a:spcBef>
                <a:spcPct val="0"/>
              </a:spcBef>
              <a:spcAft>
                <a:spcPct val="0"/>
              </a:spcAft>
            </a:pPr>
            <a:r>
              <a:rPr lang="en-US" sz="2400" dirty="0">
                <a:latin typeface="Times New Roman" panose="02020603050405020304" pitchFamily="18" charset="0"/>
                <a:cs typeface="Times New Roman" panose="02020603050405020304" pitchFamily="18" charset="0"/>
              </a:rPr>
              <a:t>Users can view travel packages and book trips.</a:t>
            </a:r>
            <a:endParaRPr lang="en-US" altLang="en-US" sz="2400"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Enable administrators to easily manage destinations, packages, and bookings.</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endParaRPr lang="en-US" dirty="0">
              <a:latin typeface="Times New Roman" panose="02020603050405020304" pitchFamily="18" charset="0"/>
              <a:cs typeface="Times New Roman" panose="02020603050405020304" pitchFamily="18" charset="0"/>
            </a:endParaRPr>
          </a:p>
          <a:p>
            <a:endParaRPr lang="en-US" dirty="0"/>
          </a:p>
          <a:p>
            <a:endParaRPr lang="en-US" dirty="0"/>
          </a:p>
        </p:txBody>
      </p:sp>
      <p:sp>
        <p:nvSpPr>
          <p:cNvPr id="4" name="Rectangle 2">
            <a:extLst>
              <a:ext uri="{FF2B5EF4-FFF2-40B4-BE49-F238E27FC236}">
                <a16:creationId xmlns:a16="http://schemas.microsoft.com/office/drawing/2014/main" id="{4ED03FC1-E484-178B-AA03-43A9E4A22E0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Objectives &amp; Scope:    </a:t>
            </a:r>
          </a:p>
          <a:p>
            <a:pPr marL="0" indent="0" algn="just">
              <a:buNone/>
            </a:pPr>
            <a:r>
              <a:rPr lang="en-US" sz="2400" dirty="0">
                <a:latin typeface="Times New Roman" panose="02020603050405020304" pitchFamily="18" charset="0"/>
                <a:cs typeface="Times New Roman" panose="02020603050405020304" pitchFamily="18" charset="0"/>
              </a:rPr>
              <a:t>The main objective of the Travel and Tourism web application is to provide a user-friendly platform where tourists can explore destinations, online payments, view tour packages, and make secure bookings online. The scope of the project covers both user and admin modules users can register, browse, and book trips. Built with Django, Python, HTML, and CSS, the system ensures scalability, easy maintenance, and can be extended with features like payment integration and real-time updates in the future.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5E328111-15E9-C6E0-A6B2-2475D6119F1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0656" y="1124744"/>
            <a:ext cx="5369650" cy="2730995"/>
          </a:xfrm>
        </p:spPr>
      </p:pic>
      <p:pic>
        <p:nvPicPr>
          <p:cNvPr id="16" name="Picture 15">
            <a:extLst>
              <a:ext uri="{FF2B5EF4-FFF2-40B4-BE49-F238E27FC236}">
                <a16:creationId xmlns:a16="http://schemas.microsoft.com/office/drawing/2014/main" id="{2CA2ED1D-C041-1D1D-8C1E-9251326639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825" y="3933056"/>
            <a:ext cx="5387481" cy="2730995"/>
          </a:xfrm>
          <a:prstGeom prst="rect">
            <a:avLst/>
          </a:prstGeom>
        </p:spPr>
      </p:pic>
      <p:pic>
        <p:nvPicPr>
          <p:cNvPr id="18" name="Picture 17">
            <a:extLst>
              <a:ext uri="{FF2B5EF4-FFF2-40B4-BE49-F238E27FC236}">
                <a16:creationId xmlns:a16="http://schemas.microsoft.com/office/drawing/2014/main" id="{97BF5CB5-D273-F006-5DC7-77C85E47D3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82784" y="910344"/>
            <a:ext cx="5492924" cy="2638241"/>
          </a:xfrm>
          <a:prstGeom prst="rect">
            <a:avLst/>
          </a:prstGeom>
        </p:spPr>
      </p:pic>
      <p:pic>
        <p:nvPicPr>
          <p:cNvPr id="20" name="Picture 19">
            <a:extLst>
              <a:ext uri="{FF2B5EF4-FFF2-40B4-BE49-F238E27FC236}">
                <a16:creationId xmlns:a16="http://schemas.microsoft.com/office/drawing/2014/main" id="{4D29262B-09E7-B1CF-34E8-5AD455E9ED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91372" y="3810848"/>
            <a:ext cx="5492924" cy="26371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32CA34BF-A34E-79D6-54AB-600A7F0F9D9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50857" y="1386884"/>
            <a:ext cx="5329119" cy="4274364"/>
          </a:xfrm>
        </p:spPr>
      </p:pic>
      <p:pic>
        <p:nvPicPr>
          <p:cNvPr id="17" name="Picture 16">
            <a:extLst>
              <a:ext uri="{FF2B5EF4-FFF2-40B4-BE49-F238E27FC236}">
                <a16:creationId xmlns:a16="http://schemas.microsoft.com/office/drawing/2014/main" id="{AFB2CEA0-27F5-444A-EF37-E1B075AD54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23993" y="1386884"/>
            <a:ext cx="5544616" cy="42743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A5433353-3C0C-4C37-7701-5A76866F784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51384" y="1233136"/>
            <a:ext cx="5043498" cy="2542852"/>
          </a:xfrm>
        </p:spPr>
      </p:pic>
      <p:pic>
        <p:nvPicPr>
          <p:cNvPr id="14" name="Picture 13">
            <a:extLst>
              <a:ext uri="{FF2B5EF4-FFF2-40B4-BE49-F238E27FC236}">
                <a16:creationId xmlns:a16="http://schemas.microsoft.com/office/drawing/2014/main" id="{62E51A10-38D7-3C94-D304-8C851C9162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9976" y="1233135"/>
            <a:ext cx="4968552" cy="2510398"/>
          </a:xfrm>
          <a:prstGeom prst="rect">
            <a:avLst/>
          </a:prstGeom>
        </p:spPr>
      </p:pic>
      <p:pic>
        <p:nvPicPr>
          <p:cNvPr id="16" name="Picture 15">
            <a:extLst>
              <a:ext uri="{FF2B5EF4-FFF2-40B4-BE49-F238E27FC236}">
                <a16:creationId xmlns:a16="http://schemas.microsoft.com/office/drawing/2014/main" id="{F9340D06-ED4D-AA54-494B-4BEBC6B51D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8672" y="4005064"/>
            <a:ext cx="5025472" cy="2542852"/>
          </a:xfrm>
          <a:prstGeom prst="rect">
            <a:avLst/>
          </a:prstGeom>
        </p:spPr>
      </p:pic>
      <p:pic>
        <p:nvPicPr>
          <p:cNvPr id="18" name="Picture 17">
            <a:extLst>
              <a:ext uri="{FF2B5EF4-FFF2-40B4-BE49-F238E27FC236}">
                <a16:creationId xmlns:a16="http://schemas.microsoft.com/office/drawing/2014/main" id="{BFA569E2-36F0-67E6-54DE-B92E859EA3C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79976" y="3993097"/>
            <a:ext cx="5065674" cy="2510399"/>
          </a:xfrm>
          <a:prstGeom prst="rect">
            <a:avLst/>
          </a:prstGeom>
        </p:spPr>
      </p:pic>
    </p:spTree>
    <p:extLst>
      <p:ext uri="{BB962C8B-B14F-4D97-AF65-F5344CB8AC3E}">
        <p14:creationId xmlns:p14="http://schemas.microsoft.com/office/powerpoint/2010/main" val="2228943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DDB759-C39E-FC5A-39CD-15C319444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496" y="1556792"/>
            <a:ext cx="8076110" cy="4111704"/>
          </a:xfrm>
          <a:prstGeom prst="rect">
            <a:avLst/>
          </a:prstGeom>
        </p:spPr>
      </p:pic>
    </p:spTree>
    <p:extLst>
      <p:ext uri="{BB962C8B-B14F-4D97-AF65-F5344CB8AC3E}">
        <p14:creationId xmlns:p14="http://schemas.microsoft.com/office/powerpoint/2010/main" val="765345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buNone/>
            </a:pPr>
            <a:r>
              <a:rPr lang="en-US" b="1" dirty="0"/>
              <a:t>TOOLS REQUIRED</a:t>
            </a:r>
          </a:p>
        </p:txBody>
      </p:sp>
      <p:sp>
        <p:nvSpPr>
          <p:cNvPr id="3" name="Rectangle 2"/>
          <p:cNvSpPr/>
          <p:nvPr/>
        </p:nvSpPr>
        <p:spPr>
          <a:xfrm>
            <a:off x="911424" y="2276872"/>
            <a:ext cx="8160568" cy="1785104"/>
          </a:xfrm>
          <a:prstGeom prst="rect">
            <a:avLst/>
          </a:prstGeom>
        </p:spPr>
        <p:txBody>
          <a:bodyPr wrap="square">
            <a:spAutoFit/>
          </a:bodyPr>
          <a:lstStyle/>
          <a:p>
            <a:pPr marL="285750" indent="-285750">
              <a:spcAft>
                <a:spcPts val="600"/>
              </a:spcAft>
              <a:buFont typeface="Arial" panose="020B0604020202020204" pitchFamily="34" charset="0"/>
              <a:buChar char="•"/>
              <a:defRPr sz="1800">
                <a:solidFill>
                  <a:srgbClr val="000000"/>
                </a:solidFill>
              </a:defRPr>
            </a:pPr>
            <a:r>
              <a:rPr lang="en-US" dirty="0">
                <a:latin typeface="Times New Roman" panose="02020603050405020304" pitchFamily="18" charset="0"/>
                <a:cs typeface="Times New Roman" panose="02020603050405020304" pitchFamily="18" charset="0"/>
              </a:rPr>
              <a:t>Python – Programming Language</a:t>
            </a:r>
          </a:p>
          <a:p>
            <a:pPr marL="285750" indent="-285750">
              <a:spcAft>
                <a:spcPts val="600"/>
              </a:spcAft>
              <a:buFont typeface="Arial" panose="020B0604020202020204" pitchFamily="34" charset="0"/>
              <a:buChar char="•"/>
              <a:defRPr sz="1800">
                <a:solidFill>
                  <a:srgbClr val="000000"/>
                </a:solidFill>
              </a:defRPr>
            </a:pPr>
            <a:r>
              <a:rPr lang="en-US" dirty="0">
                <a:latin typeface="Times New Roman" panose="02020603050405020304" pitchFamily="18" charset="0"/>
                <a:cs typeface="Times New Roman" panose="02020603050405020304" pitchFamily="18" charset="0"/>
              </a:rPr>
              <a:t>Django – Web Framework</a:t>
            </a:r>
          </a:p>
          <a:p>
            <a:pPr marL="285750" indent="-285750">
              <a:spcAft>
                <a:spcPts val="600"/>
              </a:spcAft>
              <a:buFont typeface="Arial" panose="020B0604020202020204" pitchFamily="34" charset="0"/>
              <a:buChar char="•"/>
              <a:defRPr sz="1800">
                <a:solidFill>
                  <a:srgbClr val="000000"/>
                </a:solidFill>
              </a:defRPr>
            </a:pPr>
            <a:r>
              <a:rPr lang="en-US" dirty="0">
                <a:latin typeface="Times New Roman" panose="02020603050405020304" pitchFamily="18" charset="0"/>
                <a:cs typeface="Times New Roman" panose="02020603050405020304" pitchFamily="18" charset="0"/>
              </a:rPr>
              <a:t>HTML &amp; CSS – Frontend Design</a:t>
            </a:r>
          </a:p>
          <a:p>
            <a:pPr marL="285750" indent="-285750">
              <a:spcAft>
                <a:spcPts val="600"/>
              </a:spcAft>
              <a:buFont typeface="Arial" panose="020B0604020202020204" pitchFamily="34" charset="0"/>
              <a:buChar char="•"/>
              <a:defRPr sz="1800">
                <a:solidFill>
                  <a:srgbClr val="000000"/>
                </a:solidFill>
              </a:defRPr>
            </a:pPr>
            <a:r>
              <a:rPr lang="en-US" dirty="0">
                <a:latin typeface="Times New Roman" panose="02020603050405020304" pitchFamily="18" charset="0"/>
                <a:cs typeface="Times New Roman" panose="02020603050405020304" pitchFamily="18" charset="0"/>
              </a:rPr>
              <a:t>VS Code – Code Editor</a:t>
            </a:r>
          </a:p>
          <a:p>
            <a:pPr marL="285750" indent="-285750">
              <a:spcAft>
                <a:spcPts val="600"/>
              </a:spcAft>
              <a:buFont typeface="Arial" panose="020B0604020202020204" pitchFamily="34" charset="0"/>
              <a:buChar char="•"/>
              <a:defRPr sz="1800">
                <a:solidFill>
                  <a:srgbClr val="000000"/>
                </a:solidFill>
              </a:defRPr>
            </a:pPr>
            <a:r>
              <a:rPr lang="en-US" dirty="0">
                <a:latin typeface="Times New Roman" panose="02020603050405020304" pitchFamily="18" charset="0"/>
                <a:cs typeface="Times New Roman" panose="02020603050405020304" pitchFamily="18" charset="0"/>
              </a:rPr>
              <a:t>Web Browser – For Testing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340768"/>
            <a:ext cx="10515600" cy="4752527"/>
          </a:xfrm>
        </p:spPr>
        <p:txBody>
          <a:bodyPr/>
          <a:lstStyle/>
          <a:p>
            <a:pPr algn="ctr">
              <a:buNone/>
            </a:pPr>
            <a:r>
              <a:rPr lang="en-US" sz="4000" dirty="0"/>
              <a:t>Challenges Faced:</a:t>
            </a:r>
          </a:p>
          <a:p>
            <a:pPr>
              <a:buFont typeface="Wingdings" panose="05000000000000000000" pitchFamily="2" charset="2"/>
              <a:buChar char="Ø"/>
            </a:pPr>
            <a:r>
              <a:rPr lang="en-US" sz="1800" b="1" dirty="0"/>
              <a:t>User Experience Design</a:t>
            </a:r>
            <a:br>
              <a:rPr lang="en-US" sz="1800" dirty="0"/>
            </a:br>
            <a:r>
              <a:rPr lang="en-US" sz="1800" dirty="0"/>
              <a:t>Designing a clean and responsive interface for better usability, including forms, cards, and payment flow.</a:t>
            </a:r>
          </a:p>
          <a:p>
            <a:pPr>
              <a:buFont typeface="Wingdings" panose="05000000000000000000" pitchFamily="2" charset="2"/>
              <a:buChar char="Ø"/>
            </a:pPr>
            <a:r>
              <a:rPr lang="en-US" sz="1800" b="1" dirty="0"/>
              <a:t> Accurate Information</a:t>
            </a:r>
            <a:br>
              <a:rPr lang="en-US" sz="1800" dirty="0"/>
            </a:br>
            <a:r>
              <a:rPr lang="en-US" sz="1800" dirty="0"/>
              <a:t>Difficulty in gathering and maintaining up-to-date, reliable travel details like locations, prices, and availability.</a:t>
            </a:r>
          </a:p>
          <a:p>
            <a:pPr>
              <a:buFont typeface="Wingdings" panose="05000000000000000000" pitchFamily="2" charset="2"/>
              <a:buChar char="Ø"/>
            </a:pPr>
            <a:r>
              <a:rPr lang="en-US" sz="1800" b="1" dirty="0"/>
              <a:t>Search &amp; Filtering</a:t>
            </a:r>
            <a:br>
              <a:rPr lang="en-US" sz="1800" dirty="0"/>
            </a:br>
            <a:r>
              <a:rPr lang="en-US" sz="1800" dirty="0"/>
              <a:t>Efficiently building database queries to filter destinations, tours, and buses based on user input.</a:t>
            </a:r>
          </a:p>
          <a:p>
            <a:pPr>
              <a:buFont typeface="Wingdings" panose="05000000000000000000" pitchFamily="2" charset="2"/>
              <a:buChar char="Ø"/>
            </a:pPr>
            <a:r>
              <a:rPr lang="en-US" sz="1800" b="1" dirty="0"/>
              <a:t>Payment Integration</a:t>
            </a:r>
            <a:br>
              <a:rPr lang="en-US" sz="1800" dirty="0"/>
            </a:br>
            <a:r>
              <a:rPr lang="en-US" sz="1800" dirty="0"/>
              <a:t>Implementing a simple but functional payment flow to simulate booking confirmation.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a:p>
            <a:endParaRPr lang="en-US" dirty="0"/>
          </a:p>
          <a:p>
            <a:pPr marL="0" indent="0">
              <a:buNone/>
            </a:pPr>
            <a:endParaRPr lang="en-US" dirty="0"/>
          </a:p>
          <a:p>
            <a:pPr marL="0" indent="0">
              <a:buNone/>
            </a:pPr>
            <a:endParaRPr lang="en-US" dirty="0"/>
          </a:p>
          <a:p>
            <a:pPr algn="ctr">
              <a:buNone/>
            </a:pPr>
            <a:r>
              <a:rPr lang="en-US" sz="5400" dirty="0"/>
              <a:t>THANK YOU</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8642</TotalTime>
  <Words>268</Words>
  <Application>Microsoft Office PowerPoint</Application>
  <PresentationFormat>Widescreen</PresentationFormat>
  <Paragraphs>32</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Abadi</vt:lpstr>
      <vt:lpstr>Arial</vt:lpstr>
      <vt:lpstr>Arial Rounded MT Bold</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apoorvabhanu@outlook.com</cp:lastModifiedBy>
  <cp:revision>916</cp:revision>
  <cp:lastPrinted>2025-03-17T06:44:57Z</cp:lastPrinted>
  <dcterms:created xsi:type="dcterms:W3CDTF">2019-12-14T03:50:52Z</dcterms:created>
  <dcterms:modified xsi:type="dcterms:W3CDTF">2025-09-17T10:38:04Z</dcterms:modified>
</cp:coreProperties>
</file>